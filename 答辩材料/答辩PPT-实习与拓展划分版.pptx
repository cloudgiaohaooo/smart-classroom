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优达智慧课堂教学管理平台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68680" y="2514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软件开发实习项目答辩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68680" y="3246120"/>
            <a:ext cx="2011680" cy="45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36118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答辩人：【姓名】    学号：【学号】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学院：【学院】    专业：网络空间安全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实习单位：【实习单位】    岗位：软件开发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指导教师：【指导教师】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46304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463040"/>
            <a:ext cx="82296" cy="658368"/>
          </a:xfrm>
          <a:prstGeom prst="rect">
            <a:avLst/>
          </a:prstGeom>
          <a:solidFill>
            <a:srgbClr val="0E7C4B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146304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实习单位与岗位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0" y="158191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146304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463040"/>
            <a:ext cx="82296" cy="6583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656832" y="146304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项目背景与目标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2304288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304288"/>
            <a:ext cx="82296" cy="6583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230428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内容划分说明（实习 / 拓展）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0" y="2304288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2304288"/>
            <a:ext cx="82296" cy="658368"/>
          </a:xfrm>
          <a:prstGeom prst="rect">
            <a:avLst/>
          </a:prstGeom>
          <a:solidFill>
            <a:srgbClr val="0E7C4B"/>
          </a:solidFill>
          <a:ln/>
        </p:spPr>
      </p:sp>
      <p:sp>
        <p:nvSpPr>
          <p:cNvPr id="17" name="Text 15"/>
          <p:cNvSpPr/>
          <p:nvPr/>
        </p:nvSpPr>
        <p:spPr>
          <a:xfrm>
            <a:off x="6656832" y="230428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实习：数据库 ER 图设计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92640" y="2423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3145536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145536"/>
            <a:ext cx="82296" cy="658368"/>
          </a:xfrm>
          <a:prstGeom prst="rect">
            <a:avLst/>
          </a:prstGeom>
          <a:solidFill>
            <a:srgbClr val="0E7C4B"/>
          </a:solidFill>
          <a:ln/>
        </p:spPr>
      </p:sp>
      <p:sp>
        <p:nvSpPr>
          <p:cNvPr id="21" name="Text 19"/>
          <p:cNvSpPr/>
          <p:nvPr/>
        </p:nvSpPr>
        <p:spPr>
          <a:xfrm>
            <a:off x="1078992" y="314553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实习：课程管理与作业列表（前端）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0" y="326440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0" y="3145536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3145536"/>
            <a:ext cx="82296" cy="658368"/>
          </a:xfrm>
          <a:prstGeom prst="rect">
            <a:avLst/>
          </a:prstGeom>
          <a:solidFill>
            <a:srgbClr val="0E7C4B"/>
          </a:solidFill>
          <a:ln/>
        </p:spPr>
      </p:sp>
      <p:sp>
        <p:nvSpPr>
          <p:cNvPr id="25" name="Text 23"/>
          <p:cNvSpPr/>
          <p:nvPr/>
        </p:nvSpPr>
        <p:spPr>
          <a:xfrm>
            <a:off x="6656832" y="314553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实习：资源上传与批阅反馈（后端）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92640" y="326440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3986784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3986784"/>
            <a:ext cx="82296" cy="658368"/>
          </a:xfrm>
          <a:prstGeom prst="rect">
            <a:avLst/>
          </a:prstGeom>
          <a:solidFill>
            <a:srgbClr val="0E7C4B"/>
          </a:solidFill>
          <a:ln/>
        </p:spPr>
      </p:sp>
      <p:sp>
        <p:nvSpPr>
          <p:cNvPr id="29" name="Text 27"/>
          <p:cNvSpPr/>
          <p:nvPr/>
        </p:nvSpPr>
        <p:spPr>
          <a:xfrm>
            <a:off x="1078992" y="398678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实习：测试与文档产出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114800" y="410565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0" y="3986784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0" y="3986784"/>
            <a:ext cx="82296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3" name="Text 31"/>
          <p:cNvSpPr/>
          <p:nvPr/>
        </p:nvSpPr>
        <p:spPr>
          <a:xfrm>
            <a:off x="6656832" y="398678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拓展：登录认证与权限控制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92640" y="410565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实习后自主拓展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22960" y="4828032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4828032"/>
            <a:ext cx="82296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7" name="Text 35"/>
          <p:cNvSpPr/>
          <p:nvPr/>
        </p:nvSpPr>
        <p:spPr>
          <a:xfrm>
            <a:off x="1078992" y="48280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拓展：数据统计仪表盘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114800" y="494690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实习后自主拓展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00800" y="4828032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0" y="4828032"/>
            <a:ext cx="82296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1" name="Text 39"/>
          <p:cNvSpPr/>
          <p:nvPr/>
        </p:nvSpPr>
        <p:spPr>
          <a:xfrm>
            <a:off x="6656832" y="48280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拓展：工程化完善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692640" y="494690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实习后自主拓展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22960" y="566928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5669280"/>
            <a:ext cx="82296" cy="6583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5" name="Text 43"/>
          <p:cNvSpPr/>
          <p:nvPr/>
        </p:nvSpPr>
        <p:spPr>
          <a:xfrm>
            <a:off x="1078992" y="56692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收获与总结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400800" y="566928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0" y="5669280"/>
            <a:ext cx="82296" cy="6583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8" name="Text 46"/>
          <p:cNvSpPr/>
          <p:nvPr/>
        </p:nvSpPr>
        <p:spPr>
          <a:xfrm>
            <a:off x="6656832" y="56692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致谢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E7C4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实习单位与岗位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【实习单位】 · 技术研发部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784080" y="457200"/>
            <a:ext cx="1874520" cy="475488"/>
          </a:xfrm>
          <a:prstGeom prst="roundRect">
            <a:avLst>
              <a:gd name="adj" fmla="val 50000"/>
            </a:avLst>
          </a:prstGeom>
          <a:solidFill>
            <a:srgbClr val="E6F4EC"/>
          </a:solidFill>
          <a:ln w="15240">
            <a:solidFill>
              <a:srgbClr val="0E7C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0" y="457200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50876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基本信息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228600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实习单位：【实习单位】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所属部门：技术研发部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实习岗位：软件开发实习生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实习时间：2026.07.01 — 08.15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主要项目：优达智慧课堂教学管理平台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37960" y="1508760"/>
            <a:ext cx="4846320" cy="4023360"/>
          </a:xfrm>
          <a:prstGeom prst="roundRect">
            <a:avLst>
              <a:gd name="adj" fmla="val 1818"/>
            </a:avLst>
          </a:prstGeom>
          <a:solidFill>
            <a:srgbClr val="1E2A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实习期间实际职责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0" y="233172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参与需求评审、梳理功能清单、绘制 ER 图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独立完成课程管理、作业列表两个前端页面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协助开发资源上传、作业批阅反馈两个接口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Postman 接口测试、编写测试用例与文档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内容划分说明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哪些是实习期间完成，哪些是实习后自主拓展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46304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E6F4EC"/>
          </a:solidFill>
          <a:ln w="15240">
            <a:solidFill>
              <a:srgbClr val="0E7C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691640"/>
            <a:ext cx="2194560" cy="502920"/>
          </a:xfrm>
          <a:prstGeom prst="roundRect">
            <a:avLst>
              <a:gd name="adj" fmla="val 10909"/>
            </a:avLst>
          </a:prstGeom>
          <a:solidFill>
            <a:srgbClr val="0E7C4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691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43000" y="2377440"/>
            <a:ext cx="4572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 ER 图设计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课程管理前端页面（Vue）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作业列表前端页面（Vue）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课程资源上传接口（协助）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作业批阅反馈接口（协助）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Postman 接口测试、30+ 测试用例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接口文档 + 用户操作手册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120640" cy="4480560"/>
          </a:xfrm>
          <a:prstGeom prst="roundRect">
            <a:avLst>
              <a:gd name="adj" fmla="val 1633"/>
            </a:avLst>
          </a:prstGeom>
          <a:solidFill>
            <a:srgbClr val="F0EBFC"/>
          </a:solidFill>
          <a:ln w="15240">
            <a:solidFill>
              <a:srgbClr val="6D28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169164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6D28D9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实习后自主拓展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377440"/>
            <a:ext cx="4480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登录认证 + BCrypt 密码加密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 / 学生 / 管理员角色权限控制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数据统计仪表盘 + ECharts 可视化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统一响应体、全局异常处理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MyBatis-Plus 分页插件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多表联查优化（一条 SQL 统计）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文件上传安全细节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6035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说明：实习总结中如实对应左侧内容；右侧为实习结束后出于对安全与工程化的兴趣，主动延伸学习并完善的部分。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E7C4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 ER 图设计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实习期间：协助梳理功能清单并绘制实体关系图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784080" y="457200"/>
            <a:ext cx="1874520" cy="475488"/>
          </a:xfrm>
          <a:prstGeom prst="roundRect">
            <a:avLst>
              <a:gd name="adj" fmla="val 50000"/>
            </a:avLst>
          </a:prstGeom>
          <a:solidFill>
            <a:srgbClr val="E6F4EC"/>
          </a:solidFill>
          <a:ln w="15240">
            <a:solidFill>
              <a:srgbClr val="0E7C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0" y="457200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05840" y="246888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E2A4A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sys_user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999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用户表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64592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E2A4A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1737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00400" y="2176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0" y="164592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E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0" y="1737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assignment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0" y="2176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0" y="246888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E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submission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0" y="2999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提交表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E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0" y="4297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course_resource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资源表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743200"/>
            <a:ext cx="-182880" cy="-59436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389120" y="2148840"/>
            <a:ext cx="10972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589520" y="2148840"/>
            <a:ext cx="182880" cy="54864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383280" y="2926080"/>
            <a:ext cx="2103120" cy="150876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82296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实体：用户 / 课程 / 作业 / 提交 / 资源；关系：教师授课、课程含作业、学生提交作业、课程含资源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E7C4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课程管理 · 作业列表（前端）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实习期间：基于 Vue.js 独立开发，累计约 1800 行代码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784080" y="457200"/>
            <a:ext cx="1874520" cy="475488"/>
          </a:xfrm>
          <a:prstGeom prst="roundRect">
            <a:avLst>
              <a:gd name="adj" fmla="val 50000"/>
            </a:avLst>
          </a:prstGeom>
          <a:solidFill>
            <a:srgbClr val="E6F4EC"/>
          </a:solidFill>
          <a:ln w="15240">
            <a:solidFill>
              <a:srgbClr val="0E7C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0" y="457200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50876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08760"/>
            <a:ext cx="91440" cy="2011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" y="1709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课程管理页面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15568" y="225856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课程列表分页展示、关键词搜索、新增/编辑/删除课程、联表展示授课教师姓名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63640" y="150876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1508760"/>
            <a:ext cx="91440" cy="2011680"/>
          </a:xfrm>
          <a:prstGeom prst="rect">
            <a:avLst/>
          </a:prstGeom>
          <a:solidFill>
            <a:srgbClr val="1677FF"/>
          </a:solidFill>
          <a:ln/>
        </p:spPr>
      </p:sp>
      <p:sp>
        <p:nvSpPr>
          <p:cNvPr id="13" name="Text 11"/>
          <p:cNvSpPr/>
          <p:nvPr/>
        </p:nvSpPr>
        <p:spPr>
          <a:xfrm>
            <a:off x="6556248" y="1709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作业列表页面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56248" y="225856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按课程筛选作业、展示截止时间与满分、教师布置/编辑/删除、学生在线提交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3840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技术要点：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Vue3 组件化开发、Element Plus 表格与表单、Axios 请求封装、Vue Router 路由。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E7C4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资源上传 · 作业批阅（后端）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实习期间：基于 Spring Boot 协助开发，Postman 联调测试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784080" y="457200"/>
            <a:ext cx="1874520" cy="475488"/>
          </a:xfrm>
          <a:prstGeom prst="roundRect">
            <a:avLst>
              <a:gd name="adj" fmla="val 50000"/>
            </a:avLst>
          </a:prstGeom>
          <a:solidFill>
            <a:srgbClr val="E6F4EC"/>
          </a:solidFill>
          <a:ln w="15240">
            <a:solidFill>
              <a:srgbClr val="0E7C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0" y="457200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50876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08760"/>
            <a:ext cx="91440" cy="2011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" y="1709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课程资源上传接口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15568" y="225856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接收文件上传、保存文件并记录元数据，支持按课程查询与下载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63640" y="150876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1508760"/>
            <a:ext cx="91440" cy="20116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556248" y="1709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作业批阅反馈接口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56248" y="225856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教师打分 + 填写反馈，学生提交后查看得分，事务保证批阅一致性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3840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技术要点：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三层架构、RESTful 接口设计、多表查询、事务管理、Postman 接口测试。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E7C4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测试与文档产出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实习期间：接口测试、Bug 跟踪、文档撰写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784080" y="457200"/>
            <a:ext cx="1874520" cy="475488"/>
          </a:xfrm>
          <a:prstGeom prst="roundRect">
            <a:avLst>
              <a:gd name="adj" fmla="val 50000"/>
            </a:avLst>
          </a:prstGeom>
          <a:solidFill>
            <a:srgbClr val="E6F4EC"/>
          </a:solidFill>
          <a:ln w="15240">
            <a:solidFill>
              <a:srgbClr val="0E7C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0" y="457200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实习期间完成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1E2A4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11880" y="160020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1E2A4A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61188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跟踪 Bug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160020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1E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0936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协助修复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06840" y="160020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1E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00684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00684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份文档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338328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 Postman 对资源上传、作业批阅等接口进行功能与异常场景测试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记录并跟踪 Bug，协助定位与修复问题，养成规范提交流程的习惯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撰写接口说明文档、用户操作手册各一份，沉淀团队知识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登录认证与权限控制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实习后自主拓展：结合网安专业兴趣完善安全设计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784080" y="457200"/>
            <a:ext cx="1874520" cy="475488"/>
          </a:xfrm>
          <a:prstGeom prst="roundRect">
            <a:avLst>
              <a:gd name="adj" fmla="val 50000"/>
            </a:avLst>
          </a:prstGeom>
          <a:solidFill>
            <a:srgbClr val="F0EBFC"/>
          </a:solidFill>
          <a:ln w="15240">
            <a:solidFill>
              <a:srgbClr val="6D28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0" y="457200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实习后自主拓展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3429000" cy="3108960"/>
          </a:xfrm>
          <a:prstGeom prst="roundRect">
            <a:avLst>
              <a:gd name="adj" fmla="val 2353"/>
            </a:avLst>
          </a:prstGeom>
          <a:solidFill>
            <a:srgbClr val="F0EBFC"/>
          </a:solidFill>
          <a:ln w="12700">
            <a:solidFill>
              <a:srgbClr val="D8CD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1828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无状态认证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78992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登录签发令牌，请求头携带，拦截器统一校验并解析用户信息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62272" y="1554480"/>
            <a:ext cx="3429000" cy="3108960"/>
          </a:xfrm>
          <a:prstGeom prst="roundRect">
            <a:avLst>
              <a:gd name="adj" fmla="val 2353"/>
            </a:avLst>
          </a:prstGeom>
          <a:solidFill>
            <a:srgbClr val="F0EBFC"/>
          </a:solidFill>
          <a:ln w="12700">
            <a:solidFill>
              <a:srgbClr val="D8CD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828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BCrypt 密码加密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18304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密码单向哈希存储，比对过程不还原明文，抵抗彩虹表攻击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01584" y="1554480"/>
            <a:ext cx="3429000" cy="3108960"/>
          </a:xfrm>
          <a:prstGeom prst="roundRect">
            <a:avLst>
              <a:gd name="adj" fmla="val 2353"/>
            </a:avLst>
          </a:prstGeom>
          <a:solidFill>
            <a:srgbClr val="F0EBFC"/>
          </a:solidFill>
          <a:ln w="12700">
            <a:solidFill>
              <a:srgbClr val="D8CD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57616" y="1828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角色权限控制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57616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 / 学生 / 管理员三种角色，前端动态菜单 + 后端权限兜底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9377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动机：作为网络空间安全专业学生，实习中发现系统认证环节可以更完善，故主动学习并补充了 JWT 与密码加密等安全设计。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数据统计仪表盘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实习后自主拓展：数据可视化呈现教学全貌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784080" y="457200"/>
            <a:ext cx="1874520" cy="475488"/>
          </a:xfrm>
          <a:prstGeom prst="roundRect">
            <a:avLst>
              <a:gd name="adj" fmla="val 50000"/>
            </a:avLst>
          </a:prstGeom>
          <a:solidFill>
            <a:srgbClr val="F0EBFC"/>
          </a:solidFill>
          <a:ln w="15240">
            <a:solidFill>
              <a:srgbClr val="6D28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0" y="457200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实习后自主拓展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50876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统计指标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22860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课程、教师、学生数量统计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作业总数、待批阅数量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课程资源数量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各课程作业数量分布（柱状图）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后端聚合查询 + 前端 ECharts 渲染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50876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各课程作业数量（ECharts 柱状图示意）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097280"/>
            <a:ext cx="502920" cy="38404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6680" y="2194560"/>
            <a:ext cx="502920" cy="27432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Shape 12"/>
          <p:cNvSpPr/>
          <p:nvPr/>
        </p:nvSpPr>
        <p:spPr>
          <a:xfrm>
            <a:off x="8595360" y="2926080"/>
            <a:ext cx="502920" cy="20116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5" name="Shape 13"/>
          <p:cNvSpPr/>
          <p:nvPr/>
        </p:nvSpPr>
        <p:spPr>
          <a:xfrm>
            <a:off x="9464040" y="2377440"/>
            <a:ext cx="502920" cy="256032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32720" y="3474720"/>
            <a:ext cx="502920" cy="14630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0" y="4937760"/>
            <a:ext cx="4572000" cy="0"/>
          </a:xfrm>
          <a:prstGeom prst="line">
            <a:avLst/>
          </a:prstGeom>
          <a:noFill/>
          <a:ln w="12700">
            <a:solidFill>
              <a:srgbClr val="D6DEEA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工程化完善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实习后自主拓展：让项目结构更规范、更健壮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784080" y="457200"/>
            <a:ext cx="1874520" cy="475488"/>
          </a:xfrm>
          <a:prstGeom prst="roundRect">
            <a:avLst>
              <a:gd name="adj" fmla="val 50000"/>
            </a:avLst>
          </a:prstGeom>
          <a:solidFill>
            <a:srgbClr val="F0EBFC"/>
          </a:solidFill>
          <a:ln w="15240">
            <a:solidFill>
              <a:srgbClr val="6D28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0" y="457200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实习后自主拓展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0EBFC"/>
          </a:solidFill>
          <a:ln w="12700">
            <a:solidFill>
              <a:srgbClr val="D8CD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91440" cy="16916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1700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统一响应体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221284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 统一返回结构，前端统一解包处理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55448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0EBFC"/>
          </a:solidFill>
          <a:ln w="12700">
            <a:solidFill>
              <a:srgbClr val="D8CD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1554480"/>
            <a:ext cx="91440" cy="16916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700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全局异常处理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37960" y="221284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@RestControllerAdvice 分类兜底，避免堆栈泄露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5204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0EBFC"/>
          </a:solidFill>
          <a:ln w="12700">
            <a:solidFill>
              <a:srgbClr val="D8CD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520440"/>
            <a:ext cx="91440" cy="16916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6667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MyBatis-Plus 分页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417880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分页插件 + 自定义多表 JOIN 查询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35204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0EBFC"/>
          </a:solidFill>
          <a:ln w="12700">
            <a:solidFill>
              <a:srgbClr val="D8CD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3520440"/>
            <a:ext cx="91440" cy="16916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667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多表联查优化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37960" y="417880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用聚合子查询统计提交数 / 已批阅数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收获与总结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实习打基础，拓展强能力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46304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E6F4EC"/>
          </a:solidFill>
          <a:ln w="15240">
            <a:solidFill>
              <a:srgbClr val="0E7C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实习期间的收获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24028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知识：多表查询、事务隔离、RESTful 设计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技能：Git 协作、Linux 基本操作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能力：独立承担模块开发、调试排查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素质：严谨编码习惯、团队协作意识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120640" cy="3931920"/>
          </a:xfrm>
          <a:prstGeom prst="roundRect">
            <a:avLst>
              <a:gd name="adj" fmla="val 1860"/>
            </a:avLst>
          </a:prstGeom>
          <a:solidFill>
            <a:srgbClr val="F0EBFC"/>
          </a:solidFill>
          <a:ln w="15240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拓展的动机与成长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24028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对系统安全设计有强烈兴趣（专业相关）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主动学习 JWT、加密、权限模型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追求代码规范与工程化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不足：高并发、分布式经验仍需补强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6235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总结：实习让我把理论落到工程实践，实习后我又基于兴趣把项目补得更加完整，整个过程持续学习、不断精进。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感谢聆听，欢迎提问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感谢【实习单位】与指导教师【指导教师】老师的悉心指导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优达智慧课堂教学管理平台 - 实习答辩（内容划分版）</dc:title>
  <dc:subject>PptxGenJS Presentation</dc:subject>
  <dc:creator>【姓名】</dc:creator>
  <cp:lastModifiedBy>【姓名】</cp:lastModifiedBy>
  <cp:revision>1</cp:revision>
  <dcterms:created xsi:type="dcterms:W3CDTF">2026-10-15T12:59:09Z</dcterms:created>
  <dcterms:modified xsi:type="dcterms:W3CDTF">2026-10-15T12:59:09Z</dcterms:modified>
</cp:coreProperties>
</file>