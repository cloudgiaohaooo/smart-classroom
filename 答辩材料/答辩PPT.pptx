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优达智慧课堂教学管理平台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8680" y="2514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软件开发实习项目答辩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3246120"/>
            <a:ext cx="201168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6118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答辩人：【姓名】    学号：【学号】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学院：【学院】    专业：网络空间安全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    岗位：软件开发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指导教师：【指导教师】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15544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实习单位与岗位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693408" y="15544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项目背景与目标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27889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78892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27889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系统架构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00800" y="27889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278892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693408" y="27889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技术选型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0233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02336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" y="4023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核心功能演示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40233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402336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6693408" y="40233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数据库设计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2578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25780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1115568" y="52578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技术难点与解决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400800" y="52578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5257800"/>
            <a:ext cx="9144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6693408" y="52578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3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实习收获与总结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实习单位与岗位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【实习单位】 · 技术研发部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单位与岗位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所属部门：技术研发部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实习岗位：软件开发实习生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实习时间：2026.07.01 — 08.15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主要项目：优达智慧课堂教学管理平台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0" y="1508760"/>
            <a:ext cx="4846320" cy="3931920"/>
          </a:xfrm>
          <a:prstGeom prst="roundRect">
            <a:avLst>
              <a:gd name="adj" fmla="val 1860"/>
            </a:avLst>
          </a:prstGeom>
          <a:solidFill>
            <a:srgbClr val="1E2A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我的定位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0" y="233172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参与真实教学系统的完整开发周期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独立完成 2 个前端页面（约 1800 行）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协助开发 2 个后端接口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撰写接口文档与操作手册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项目背景与目标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解决教学管理流程线上化的痛点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FF3EC"/>
          </a:solidFill>
          <a:ln w="12700">
            <a:solidFill>
              <a:srgbClr val="F5C6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56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现状痛点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33172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作业发布、提交、批阅依赖线下流程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课程资源分发靠群文件，查找困难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批阅反馈不及时、易遗漏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数据分散，难以统计与复盘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166360" cy="4023360"/>
          </a:xfrm>
          <a:prstGeom prst="roundRect">
            <a:avLst>
              <a:gd name="adj" fmla="val 1818"/>
            </a:avLst>
          </a:prstGeom>
          <a:solidFill>
            <a:srgbClr val="EAF7F1"/>
          </a:solidFill>
          <a:ln w="12700">
            <a:solidFill>
              <a:srgbClr val="A9E2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覆盖「课程—作业—提交—批阅—资源」全流程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教师端：课程管理、布置作业、批阅反馈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学生端：选课查看、提交作业、查看成绩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统一平台，数据可统计、流程可追踪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前后端分离 + 三层架构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94560" y="14630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1677FF"/>
          </a:solidFill>
          <a:ln/>
        </p:spPr>
      </p:sp>
      <p:sp>
        <p:nvSpPr>
          <p:cNvPr id="6" name="Text 4"/>
          <p:cNvSpPr/>
          <p:nvPr/>
        </p:nvSpPr>
        <p:spPr>
          <a:xfrm>
            <a:off x="2194560" y="14630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浏览器（Vue3 单页应用）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94560" y="21488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21488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RESTful API · HTTP / JSON · JWT 认证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28346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2A3B66"/>
          </a:solidFill>
          <a:ln/>
        </p:spPr>
      </p:sp>
      <p:sp>
        <p:nvSpPr>
          <p:cNvPr id="10" name="Text 8"/>
          <p:cNvSpPr/>
          <p:nvPr/>
        </p:nvSpPr>
        <p:spPr>
          <a:xfrm>
            <a:off x="2194560" y="28346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 接口层 —— 参数校验、统一响应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194560" y="35204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2A3B66"/>
          </a:solidFill>
          <a:ln/>
        </p:spPr>
      </p:sp>
      <p:sp>
        <p:nvSpPr>
          <p:cNvPr id="12" name="Text 10"/>
          <p:cNvSpPr/>
          <p:nvPr/>
        </p:nvSpPr>
        <p:spPr>
          <a:xfrm>
            <a:off x="2194560" y="35204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 业务层 —— 业务逻辑、@Transactional 事务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194560" y="42062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2A3B66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42062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Mapper 数据层 —— MyBatis-Plus + 多表 JOIN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194560" y="489204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1E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2194560" y="489204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 数据库（5 张表）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每一层选型都基于实际业务需求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54480"/>
          <a:ext cx="10515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选型理由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Vue3 + Element Plus + ECharts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组件化开发、生态成熟、可视化报表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Spring Boot 3 + MyBatis-Plus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快速开发、SQL 灵活、分页插件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MySQL 8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关系型数据库、事务与索引支持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JWT + BCrypt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无状态认证、密码单向加密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Git + Postman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版本管理、接口联调测试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核心功能一：课程管理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课程的新增 · 编辑 · 删除 · 分页搜索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教师维护课程信息，学生查看开课目录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60604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课程列表分页 + 关键词搜索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联表展示授课教师姓名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/ 编辑 / 删除课程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学分、学期、开课状态管理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508760"/>
            <a:ext cx="502920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页面演示示意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194560"/>
            <a:ext cx="6400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313432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2313432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816352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816352"/>
            <a:ext cx="6400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7452360" y="2935224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8" name="Shape 16"/>
          <p:cNvSpPr/>
          <p:nvPr/>
        </p:nvSpPr>
        <p:spPr>
          <a:xfrm>
            <a:off x="9692640" y="2935224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3438144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6400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2360" y="3557016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3557016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4059936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059936"/>
            <a:ext cx="6400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178808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0" y="4178808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583680" y="4681728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4681728"/>
            <a:ext cx="64008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9" name="Shape 27"/>
          <p:cNvSpPr/>
          <p:nvPr/>
        </p:nvSpPr>
        <p:spPr>
          <a:xfrm>
            <a:off x="7452360" y="4800600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30" name="Shape 28"/>
          <p:cNvSpPr/>
          <p:nvPr/>
        </p:nvSpPr>
        <p:spPr>
          <a:xfrm>
            <a:off x="9692640" y="4800600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核心功能二：作业列表与提交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作业的布置 · 编辑 · 删除 · 在线提交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教师布置作业，学生在线提交内容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60604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按课程筛选作业、查看截止时间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 SQL 统计提交数 / 已批阅数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学生在线提交作业内容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超过截止时间自动拒绝提交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508760"/>
            <a:ext cx="502920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页面演示示意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194560"/>
            <a:ext cx="64008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313432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2313432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816352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816352"/>
            <a:ext cx="64008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52360" y="2935224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8" name="Shape 16"/>
          <p:cNvSpPr/>
          <p:nvPr/>
        </p:nvSpPr>
        <p:spPr>
          <a:xfrm>
            <a:off x="9692640" y="2935224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3438144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64008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2360" y="3557016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3557016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4059936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059936"/>
            <a:ext cx="64008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178808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0" y="4178808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583680" y="4681728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4681728"/>
            <a:ext cx="640080" cy="45720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7452360" y="4800600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30" name="Shape 28"/>
          <p:cNvSpPr/>
          <p:nvPr/>
        </p:nvSpPr>
        <p:spPr>
          <a:xfrm>
            <a:off x="9692640" y="4800600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核心功能三：作业批阅反馈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教师打分 · 填写反馈 · 学生查看成绩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批阅流程闭环，反馈及时触达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60604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提交记录四表 JOIN 联表查询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教师打分 + 填写批阅反馈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@Transactional 保证批阅原子性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学生端实时查看得分与反馈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508760"/>
            <a:ext cx="502920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页面演示示意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194560"/>
            <a:ext cx="64008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313432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2313432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816352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816352"/>
            <a:ext cx="64008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Shape 15"/>
          <p:cNvSpPr/>
          <p:nvPr/>
        </p:nvSpPr>
        <p:spPr>
          <a:xfrm>
            <a:off x="7452360" y="2935224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8" name="Shape 16"/>
          <p:cNvSpPr/>
          <p:nvPr/>
        </p:nvSpPr>
        <p:spPr>
          <a:xfrm>
            <a:off x="9692640" y="2935224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3438144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64008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2360" y="3557016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3557016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4059936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059936"/>
            <a:ext cx="64008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178808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0" y="4178808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583680" y="4681728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4681728"/>
            <a:ext cx="640080" cy="457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9" name="Shape 27"/>
          <p:cNvSpPr/>
          <p:nvPr/>
        </p:nvSpPr>
        <p:spPr>
          <a:xfrm>
            <a:off x="7452360" y="4800600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30" name="Shape 28"/>
          <p:cNvSpPr/>
          <p:nvPr/>
        </p:nvSpPr>
        <p:spPr>
          <a:xfrm>
            <a:off x="9692640" y="4800600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核心功能四：课程资源上传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文件上传 · 下载 · 按课程归类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37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课程资源统一管理、随时下载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60604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支持多种文件类型上传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按课程分目录、UUID 重命名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文件大小限制 + 元数据入库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一键下载、在线预览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508760"/>
            <a:ext cx="502920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页面演示示意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194560"/>
            <a:ext cx="64008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313432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2313432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816352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816352"/>
            <a:ext cx="64008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17" name="Shape 15"/>
          <p:cNvSpPr/>
          <p:nvPr/>
        </p:nvSpPr>
        <p:spPr>
          <a:xfrm>
            <a:off x="7452360" y="2935224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18" name="Shape 16"/>
          <p:cNvSpPr/>
          <p:nvPr/>
        </p:nvSpPr>
        <p:spPr>
          <a:xfrm>
            <a:off x="9692640" y="2935224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3438144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64008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2360" y="3557016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3557016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0" y="4059936"/>
            <a:ext cx="4572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4059936"/>
            <a:ext cx="64008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178808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0" y="4178808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583680" y="4681728"/>
            <a:ext cx="457200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D6DE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4681728"/>
            <a:ext cx="640080" cy="457200"/>
          </a:xfrm>
          <a:prstGeom prst="rect">
            <a:avLst/>
          </a:prstGeom>
          <a:solidFill>
            <a:srgbClr val="2A3B66"/>
          </a:solidFill>
          <a:ln/>
        </p:spPr>
      </p:sp>
      <p:sp>
        <p:nvSpPr>
          <p:cNvPr id="29" name="Shape 27"/>
          <p:cNvSpPr/>
          <p:nvPr/>
        </p:nvSpPr>
        <p:spPr>
          <a:xfrm>
            <a:off x="7452360" y="4800600"/>
            <a:ext cx="1828800" cy="146304"/>
          </a:xfrm>
          <a:prstGeom prst="rect">
            <a:avLst/>
          </a:prstGeom>
          <a:solidFill>
            <a:srgbClr val="C9D4E4"/>
          </a:solidFill>
          <a:ln/>
        </p:spPr>
      </p:sp>
      <p:sp>
        <p:nvSpPr>
          <p:cNvPr id="30" name="Shape 28"/>
          <p:cNvSpPr/>
          <p:nvPr/>
        </p:nvSpPr>
        <p:spPr>
          <a:xfrm>
            <a:off x="9692640" y="4800600"/>
            <a:ext cx="1188720" cy="146304"/>
          </a:xfrm>
          <a:prstGeom prst="rect">
            <a:avLst/>
          </a:prstGeom>
          <a:solidFill>
            <a:srgbClr val="DCE4F0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张核心表 · 外键关联 · 索引优化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1E2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443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1E2A4A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1755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20640" y="164592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1E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755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assignment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212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23774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1E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submission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0" y="29443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420624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1E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4315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course_resource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47731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08960" y="2788920"/>
            <a:ext cx="-182880" cy="-6400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14800" y="2148840"/>
            <a:ext cx="100584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223760" y="2148840"/>
            <a:ext cx="91440" cy="5029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108960" y="2926080"/>
            <a:ext cx="2011680" cy="155448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03920" y="2788920"/>
            <a:ext cx="0" cy="914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31520" y="5577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设计要点：外键约束交由应用层保证，数据库保留索引；多表联查采用 LEFT JOIN + 聚合子查询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技术难点与解决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四个关键技术点的实现方案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91440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00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多表关联查询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JOIN + 聚合子查询，一条 SQL 统计提交数 / 已批阅数，配合分页插件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554480"/>
            <a:ext cx="91440" cy="169164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700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事务一致性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2128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@Transactional 保证批阅操作原子性，避免分数与状态不一致的中间态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520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0440"/>
            <a:ext cx="91440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6667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无状态认证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7880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+ 拦截器 + ThreadLocal 上下文，密码 BCrypt 加密，防篡改防泄露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5204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3FA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3520440"/>
            <a:ext cx="91440" cy="1691640"/>
          </a:xfrm>
          <a:prstGeom prst="rect">
            <a:avLst/>
          </a:prstGeom>
          <a:solidFill>
            <a:srgbClr val="1677FF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36667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文件上传安全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17880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UUID 重命名防覆盖 / 路径穿越，按课程分目录，限制上传大小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18872" cy="6583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3840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测试产出与实习收获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93268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从开发到交付的完整闭环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64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71800" y="155448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9" name="Text 7"/>
          <p:cNvSpPr/>
          <p:nvPr/>
        </p:nvSpPr>
        <p:spPr>
          <a:xfrm>
            <a:off x="2971800" y="1664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9718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 Bug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20640" y="155448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664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12064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修复问题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155448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664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26948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行前端代码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418320" y="155448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9418320" y="16642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41832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份文档产出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实习收获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3794760"/>
            <a:ext cx="10515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知识：多表查询、事务隔离、RESTful 接口设计、Git 协作、Linux 基本操作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能力：经历完整开发周期，具备独立承担模块开发的能力，掌握调试排查方法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素质：养成严谨编码习惯与责任心，强化团队协作与沟通意识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不足：对高并发、分布式等生产级场景经验不足，将持续学习补强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感谢聆听，欢迎提问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6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感谢【实习单位】与指导教师【指导教师】老师的悉心指导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优达智慧课堂教学管理平台 - 实习答辩</dc:title>
  <dc:subject>PptxGenJS Presentation</dc:subject>
  <dc:creator>【姓名】</dc:creator>
  <cp:lastModifiedBy>【姓名】</cp:lastModifiedBy>
  <cp:revision>1</cp:revision>
  <dcterms:created xsi:type="dcterms:W3CDTF">2026-10-15T12:55:19Z</dcterms:created>
  <dcterms:modified xsi:type="dcterms:W3CDTF">2026-10-15T12:55:19Z</dcterms:modified>
</cp:coreProperties>
</file>